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66" r:id="rId3"/>
    <p:sldId id="260" r:id="rId4"/>
    <p:sldId id="261" r:id="rId5"/>
    <p:sldId id="262" r:id="rId6"/>
    <p:sldId id="263" r:id="rId7"/>
    <p:sldId id="265" r:id="rId8"/>
    <p:sldId id="267"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9" d="100"/>
          <a:sy n="89" d="100"/>
        </p:scale>
        <p:origin x="46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BD5DF864-1726-42D6-8AAA-D81A0503A158}" type="datetimeFigureOut">
              <a:rPr lang="en-IN" smtClean="0"/>
              <a:t>09-07-2026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D819404-A9A6-47EA-82F4-AAF896E77713}" type="slidenum">
              <a:rPr lang="en-IN" smtClean="0"/>
              <a:t>‹#›</a:t>
            </a:fld>
            <a:endParaRPr lang="en-IN"/>
          </a:p>
        </p:txBody>
      </p:sp>
    </p:spTree>
    <p:extLst>
      <p:ext uri="{BB962C8B-B14F-4D97-AF65-F5344CB8AC3E}">
        <p14:creationId xmlns:p14="http://schemas.microsoft.com/office/powerpoint/2010/main" val="30189098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D5DF864-1726-42D6-8AAA-D81A0503A158}" type="datetimeFigureOut">
              <a:rPr lang="en-IN" smtClean="0"/>
              <a:t>09-07-2026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D819404-A9A6-47EA-82F4-AAF896E77713}" type="slidenum">
              <a:rPr lang="en-IN" smtClean="0"/>
              <a:t>‹#›</a:t>
            </a:fld>
            <a:endParaRPr lang="en-IN"/>
          </a:p>
        </p:txBody>
      </p:sp>
    </p:spTree>
    <p:extLst>
      <p:ext uri="{BB962C8B-B14F-4D97-AF65-F5344CB8AC3E}">
        <p14:creationId xmlns:p14="http://schemas.microsoft.com/office/powerpoint/2010/main" val="31587506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D5DF864-1726-42D6-8AAA-D81A0503A158}" type="datetimeFigureOut">
              <a:rPr lang="en-IN" smtClean="0"/>
              <a:t>09-07-2026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D819404-A9A6-47EA-82F4-AAF896E77713}" type="slidenum">
              <a:rPr lang="en-IN" smtClean="0"/>
              <a:t>‹#›</a:t>
            </a:fld>
            <a:endParaRPr lang="en-IN"/>
          </a:p>
        </p:txBody>
      </p:sp>
    </p:spTree>
    <p:extLst>
      <p:ext uri="{BB962C8B-B14F-4D97-AF65-F5344CB8AC3E}">
        <p14:creationId xmlns:p14="http://schemas.microsoft.com/office/powerpoint/2010/main" val="39466781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BD5DF864-1726-42D6-8AAA-D81A0503A158}" type="datetimeFigureOut">
              <a:rPr lang="en-IN" smtClean="0"/>
              <a:t>09-07-2026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D819404-A9A6-47EA-82F4-AAF896E77713}" type="slidenum">
              <a:rPr lang="en-IN" smtClean="0"/>
              <a:t>‹#›</a:t>
            </a:fld>
            <a:endParaRPr lang="en-IN"/>
          </a:p>
        </p:txBody>
      </p:sp>
    </p:spTree>
    <p:extLst>
      <p:ext uri="{BB962C8B-B14F-4D97-AF65-F5344CB8AC3E}">
        <p14:creationId xmlns:p14="http://schemas.microsoft.com/office/powerpoint/2010/main" val="306074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BD5DF864-1726-42D6-8AAA-D81A0503A158}" type="datetimeFigureOut">
              <a:rPr lang="en-IN" smtClean="0"/>
              <a:t>09-07-2026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D819404-A9A6-47EA-82F4-AAF896E77713}" type="slidenum">
              <a:rPr lang="en-IN" smtClean="0"/>
              <a:t>‹#›</a:t>
            </a:fld>
            <a:endParaRPr lang="en-IN"/>
          </a:p>
        </p:txBody>
      </p:sp>
    </p:spTree>
    <p:extLst>
      <p:ext uri="{BB962C8B-B14F-4D97-AF65-F5344CB8AC3E}">
        <p14:creationId xmlns:p14="http://schemas.microsoft.com/office/powerpoint/2010/main" val="19065045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BD5DF864-1726-42D6-8AAA-D81A0503A158}" type="datetimeFigureOut">
              <a:rPr lang="en-IN" smtClean="0"/>
              <a:t>09-07-2026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D819404-A9A6-47EA-82F4-AAF896E77713}" type="slidenum">
              <a:rPr lang="en-IN" smtClean="0"/>
              <a:t>‹#›</a:t>
            </a:fld>
            <a:endParaRPr lang="en-IN"/>
          </a:p>
        </p:txBody>
      </p:sp>
    </p:spTree>
    <p:extLst>
      <p:ext uri="{BB962C8B-B14F-4D97-AF65-F5344CB8AC3E}">
        <p14:creationId xmlns:p14="http://schemas.microsoft.com/office/powerpoint/2010/main" val="4206454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D5DF864-1726-42D6-8AAA-D81A0503A158}" type="datetimeFigureOut">
              <a:rPr lang="en-IN" smtClean="0"/>
              <a:t>09-07-2026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D819404-A9A6-47EA-82F4-AAF896E77713}" type="slidenum">
              <a:rPr lang="en-IN" smtClean="0"/>
              <a:t>‹#›</a:t>
            </a:fld>
            <a:endParaRPr lang="en-IN"/>
          </a:p>
        </p:txBody>
      </p:sp>
    </p:spTree>
    <p:extLst>
      <p:ext uri="{BB962C8B-B14F-4D97-AF65-F5344CB8AC3E}">
        <p14:creationId xmlns:p14="http://schemas.microsoft.com/office/powerpoint/2010/main" val="139607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D5DF864-1726-42D6-8AAA-D81A0503A158}" type="datetimeFigureOut">
              <a:rPr lang="en-IN" smtClean="0"/>
              <a:t>09-07-2026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D819404-A9A6-47EA-82F4-AAF896E77713}" type="slidenum">
              <a:rPr lang="en-IN" smtClean="0"/>
              <a:t>‹#›</a:t>
            </a:fld>
            <a:endParaRPr lang="en-IN"/>
          </a:p>
        </p:txBody>
      </p:sp>
    </p:spTree>
    <p:extLst>
      <p:ext uri="{BB962C8B-B14F-4D97-AF65-F5344CB8AC3E}">
        <p14:creationId xmlns:p14="http://schemas.microsoft.com/office/powerpoint/2010/main" val="18774854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D5DF864-1726-42D6-8AAA-D81A0503A158}" type="datetimeFigureOut">
              <a:rPr lang="en-IN" smtClean="0"/>
              <a:t>09-07-2026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D819404-A9A6-47EA-82F4-AAF896E77713}" type="slidenum">
              <a:rPr lang="en-IN" smtClean="0"/>
              <a:t>‹#›</a:t>
            </a:fld>
            <a:endParaRPr lang="en-IN"/>
          </a:p>
        </p:txBody>
      </p:sp>
    </p:spTree>
    <p:extLst>
      <p:ext uri="{BB962C8B-B14F-4D97-AF65-F5344CB8AC3E}">
        <p14:creationId xmlns:p14="http://schemas.microsoft.com/office/powerpoint/2010/main" val="12683836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D5DF864-1726-42D6-8AAA-D81A0503A158}" type="datetimeFigureOut">
              <a:rPr lang="en-IN" smtClean="0"/>
              <a:t>09-07-2026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D819404-A9A6-47EA-82F4-AAF896E77713}" type="slidenum">
              <a:rPr lang="en-IN" smtClean="0"/>
              <a:t>‹#›</a:t>
            </a:fld>
            <a:endParaRPr lang="en-IN"/>
          </a:p>
        </p:txBody>
      </p:sp>
    </p:spTree>
    <p:extLst>
      <p:ext uri="{BB962C8B-B14F-4D97-AF65-F5344CB8AC3E}">
        <p14:creationId xmlns:p14="http://schemas.microsoft.com/office/powerpoint/2010/main" val="40202453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D5DF864-1726-42D6-8AAA-D81A0503A158}" type="datetimeFigureOut">
              <a:rPr lang="en-IN" smtClean="0"/>
              <a:t>09-07-2026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D819404-A9A6-47EA-82F4-AAF896E77713}" type="slidenum">
              <a:rPr lang="en-IN" smtClean="0"/>
              <a:t>‹#›</a:t>
            </a:fld>
            <a:endParaRPr lang="en-IN"/>
          </a:p>
        </p:txBody>
      </p:sp>
    </p:spTree>
    <p:extLst>
      <p:ext uri="{BB962C8B-B14F-4D97-AF65-F5344CB8AC3E}">
        <p14:creationId xmlns:p14="http://schemas.microsoft.com/office/powerpoint/2010/main" val="11670120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5DF864-1726-42D6-8AAA-D81A0503A158}" type="datetimeFigureOut">
              <a:rPr lang="en-IN" smtClean="0"/>
              <a:t>09-07-2026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819404-A9A6-47EA-82F4-AAF896E77713}" type="slidenum">
              <a:rPr lang="en-IN" smtClean="0"/>
              <a:t>‹#›</a:t>
            </a:fld>
            <a:endParaRPr lang="en-IN"/>
          </a:p>
        </p:txBody>
      </p:sp>
    </p:spTree>
    <p:extLst>
      <p:ext uri="{BB962C8B-B14F-4D97-AF65-F5344CB8AC3E}">
        <p14:creationId xmlns:p14="http://schemas.microsoft.com/office/powerpoint/2010/main" val="9537903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192000" cy="6858000"/>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pc="1800" dirty="0"/>
          </a:p>
        </p:txBody>
      </p:sp>
      <p:sp>
        <p:nvSpPr>
          <p:cNvPr id="7" name="Rectangle 6"/>
          <p:cNvSpPr/>
          <p:nvPr/>
        </p:nvSpPr>
        <p:spPr>
          <a:xfrm>
            <a:off x="241539" y="599536"/>
            <a:ext cx="10127411" cy="23722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500" dirty="0" smtClean="0">
                <a:latin typeface="Adobe Gothic Std B" panose="020B0800000000000000" pitchFamily="34" charset="-128"/>
                <a:ea typeface="Adobe Gothic Std B" panose="020B0800000000000000" pitchFamily="34" charset="-128"/>
              </a:rPr>
              <a:t>WELCOME</a:t>
            </a:r>
            <a:endParaRPr lang="en-IN" sz="11500" dirty="0">
              <a:latin typeface="Adobe Gothic Std B" panose="020B0800000000000000" pitchFamily="34" charset="-128"/>
              <a:ea typeface="Adobe Gothic Std B" panose="020B0800000000000000" pitchFamily="34" charset="-128"/>
            </a:endParaRPr>
          </a:p>
        </p:txBody>
      </p:sp>
      <p:sp>
        <p:nvSpPr>
          <p:cNvPr id="8" name="Rectangle 7"/>
          <p:cNvSpPr/>
          <p:nvPr/>
        </p:nvSpPr>
        <p:spPr>
          <a:xfrm>
            <a:off x="241539" y="3243532"/>
            <a:ext cx="10015267" cy="500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spc="1800" dirty="0" smtClean="0">
                <a:latin typeface="Adobe Gothic Std B" panose="020B0800000000000000" pitchFamily="34" charset="-128"/>
                <a:ea typeface="Adobe Gothic Std B" panose="020B0800000000000000" pitchFamily="34" charset="-128"/>
              </a:rPr>
              <a:t>AI IN EDUCTION</a:t>
            </a:r>
            <a:endParaRPr lang="en-IN" b="1" spc="1800" dirty="0">
              <a:latin typeface="Adobe Gothic Std B" panose="020B0800000000000000" pitchFamily="34" charset="-128"/>
              <a:ea typeface="Adobe Gothic Std B" panose="020B0800000000000000" pitchFamily="34" charset="-128"/>
            </a:endParaRP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67008" y="3884224"/>
            <a:ext cx="4243748" cy="2657087"/>
          </a:xfrm>
          <a:prstGeom prst="rect">
            <a:avLst/>
          </a:prstGeom>
        </p:spPr>
      </p:pic>
    </p:spTree>
    <p:extLst>
      <p:ext uri="{BB962C8B-B14F-4D97-AF65-F5344CB8AC3E}">
        <p14:creationId xmlns:p14="http://schemas.microsoft.com/office/powerpoint/2010/main" val="68472045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Introduction</a:t>
            </a:r>
            <a:r>
              <a:rPr lang="en-IN" dirty="0" smtClean="0"/>
              <a:t> </a:t>
            </a:r>
            <a:r>
              <a:rPr lang="en-IN" b="1" dirty="0" smtClean="0"/>
              <a:t>to</a:t>
            </a:r>
            <a:r>
              <a:rPr lang="en-IN" dirty="0" smtClean="0"/>
              <a:t> </a:t>
            </a:r>
            <a:r>
              <a:rPr lang="en-IN" b="1" dirty="0" smtClean="0"/>
              <a:t>AI</a:t>
            </a:r>
            <a:endParaRPr lang="en-IN" dirty="0"/>
          </a:p>
        </p:txBody>
      </p:sp>
      <p:pic>
        <p:nvPicPr>
          <p:cNvPr id="5" name="Picture Placeholder 4"/>
          <p:cNvPicPr>
            <a:picLocks noGrp="1" noChangeAspect="1"/>
          </p:cNvPicPr>
          <p:nvPr>
            <p:ph type="pic" idx="1"/>
          </p:nvPr>
        </p:nvPicPr>
        <p:blipFill>
          <a:blip r:embed="rId2">
            <a:extLst>
              <a:ext uri="{28A0092B-C50C-407E-A947-70E740481C1C}">
                <a14:useLocalDpi xmlns:a14="http://schemas.microsoft.com/office/drawing/2010/main" val="0"/>
              </a:ext>
            </a:extLst>
          </a:blip>
          <a:srcRect l="13976" r="13976"/>
          <a:stretch>
            <a:fillRect/>
          </a:stretch>
        </p:blipFill>
        <p:spPr/>
      </p:pic>
      <p:sp>
        <p:nvSpPr>
          <p:cNvPr id="4" name="Text Placeholder 3"/>
          <p:cNvSpPr>
            <a:spLocks noGrp="1"/>
          </p:cNvSpPr>
          <p:nvPr>
            <p:ph type="body" sz="half" idx="2"/>
          </p:nvPr>
        </p:nvSpPr>
        <p:spPr/>
        <p:txBody>
          <a:bodyPr/>
          <a:lstStyle/>
          <a:p>
            <a:r>
              <a:rPr lang="en-US" dirty="0" smtClean="0"/>
              <a:t/>
            </a:r>
            <a:br>
              <a:rPr lang="en-US" dirty="0" smtClean="0"/>
            </a:br>
            <a:r>
              <a:rPr lang="en-US" dirty="0" smtClean="0">
                <a:latin typeface="Bell MT" panose="02020503060305020303" pitchFamily="18" charset="0"/>
              </a:rPr>
              <a:t>AI (Artificial Intelligence) means making computers and machines smart enough to think, learn, and solve problems like humans. It uses data and examples to learn patterns and then makes decisions or gives answers on its own, without a human telling it every step.</a:t>
            </a:r>
            <a:endParaRPr lang="en-IN" dirty="0" smtClean="0">
              <a:latin typeface="Bell MT" panose="02020503060305020303" pitchFamily="18" charset="0"/>
            </a:endParaRPr>
          </a:p>
          <a:p>
            <a:endParaRPr lang="en-IN" dirty="0"/>
          </a:p>
        </p:txBody>
      </p:sp>
    </p:spTree>
    <p:extLst>
      <p:ext uri="{BB962C8B-B14F-4D97-AF65-F5344CB8AC3E}">
        <p14:creationId xmlns:p14="http://schemas.microsoft.com/office/powerpoint/2010/main" val="84827954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 What is AI in Education</a:t>
            </a:r>
            <a:endParaRPr lang="en-IN" dirty="0"/>
          </a:p>
        </p:txBody>
      </p:sp>
      <p:pic>
        <p:nvPicPr>
          <p:cNvPr id="5" name="Picture Placeholder 4"/>
          <p:cNvPicPr>
            <a:picLocks noGrp="1" noChangeAspect="1"/>
          </p:cNvPicPr>
          <p:nvPr>
            <p:ph type="pic" idx="1"/>
          </p:nvPr>
        </p:nvPicPr>
        <p:blipFill rotWithShape="1">
          <a:blip r:embed="rId2">
            <a:extLst>
              <a:ext uri="{28A0092B-C50C-407E-A947-70E740481C1C}">
                <a14:useLocalDpi xmlns:a14="http://schemas.microsoft.com/office/drawing/2010/main" val="0"/>
              </a:ext>
            </a:extLst>
          </a:blip>
          <a:srcRect l="4421" r="6122" b="10415"/>
          <a:stretch/>
        </p:blipFill>
        <p:spPr>
          <a:xfrm>
            <a:off x="5183188" y="987425"/>
            <a:ext cx="6057031" cy="4749141"/>
          </a:xfrm>
        </p:spPr>
      </p:pic>
      <p:sp>
        <p:nvSpPr>
          <p:cNvPr id="4" name="Text Placeholder 3"/>
          <p:cNvSpPr>
            <a:spLocks noGrp="1"/>
          </p:cNvSpPr>
          <p:nvPr>
            <p:ph type="body" sz="half" idx="2"/>
          </p:nvPr>
        </p:nvSpPr>
        <p:spPr/>
        <p:txBody>
          <a:bodyPr/>
          <a:lstStyle/>
          <a:p>
            <a:r>
              <a:rPr lang="en-US" dirty="0" smtClean="0">
                <a:latin typeface="Bell MT" panose="02020503060305020303" pitchFamily="18" charset="0"/>
              </a:rPr>
              <a:t/>
            </a:r>
            <a:br>
              <a:rPr lang="en-US" dirty="0" smtClean="0">
                <a:latin typeface="Bell MT" panose="02020503060305020303" pitchFamily="18" charset="0"/>
              </a:rPr>
            </a:br>
            <a:r>
              <a:rPr lang="en-US" dirty="0" smtClean="0">
                <a:latin typeface="Bell MT" panose="02020503060305020303" pitchFamily="18" charset="0"/>
              </a:rPr>
              <a:t>AI in education means using these smart computer programs inside schools, colleges, and learning apps. Instead of one teacher handling many students the same way, AI can look at each student's strengths and weaknesses and give lessons made just for them. It can also automatically check answers, explain difficult topics, and answer student questions anytime.</a:t>
            </a:r>
            <a:endParaRPr lang="en-IN" dirty="0">
              <a:latin typeface="Bell MT" panose="02020503060305020303" pitchFamily="18" charset="0"/>
            </a:endParaRPr>
          </a:p>
        </p:txBody>
      </p:sp>
    </p:spTree>
    <p:extLst>
      <p:ext uri="{BB962C8B-B14F-4D97-AF65-F5344CB8AC3E}">
        <p14:creationId xmlns:p14="http://schemas.microsoft.com/office/powerpoint/2010/main" val="71069810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Benefits of AI in Education</a:t>
            </a:r>
            <a:r>
              <a:rPr lang="en-US" dirty="0" smtClean="0"/>
              <a:t/>
            </a:r>
            <a:br>
              <a:rPr lang="en-US" dirty="0" smtClean="0"/>
            </a:br>
            <a:endParaRPr lang="en-IN" dirty="0"/>
          </a:p>
        </p:txBody>
      </p:sp>
      <p:pic>
        <p:nvPicPr>
          <p:cNvPr id="5" name="Picture Placeholder 4"/>
          <p:cNvPicPr>
            <a:picLocks noGrp="1" noChangeAspect="1"/>
          </p:cNvPicPr>
          <p:nvPr>
            <p:ph type="pic" idx="1"/>
          </p:nvPr>
        </p:nvPicPr>
        <p:blipFill>
          <a:blip r:embed="rId2">
            <a:extLst>
              <a:ext uri="{28A0092B-C50C-407E-A947-70E740481C1C}">
                <a14:useLocalDpi xmlns:a14="http://schemas.microsoft.com/office/drawing/2010/main" val="0"/>
              </a:ext>
            </a:extLst>
          </a:blip>
          <a:srcRect t="10520" b="10520"/>
          <a:stretch>
            <a:fillRect/>
          </a:stretch>
        </p:blipFill>
        <p:spPr/>
      </p:pic>
      <p:sp>
        <p:nvSpPr>
          <p:cNvPr id="4" name="Text Placeholder 3"/>
          <p:cNvSpPr>
            <a:spLocks noGrp="1"/>
          </p:cNvSpPr>
          <p:nvPr>
            <p:ph type="body" sz="half" idx="2"/>
          </p:nvPr>
        </p:nvSpPr>
        <p:spPr/>
        <p:txBody>
          <a:bodyPr/>
          <a:lstStyle/>
          <a:p>
            <a:r>
              <a:rPr lang="en-US" b="1" dirty="0" smtClean="0"/>
              <a:t>Personalized learning</a:t>
            </a:r>
            <a:r>
              <a:rPr lang="en-US" dirty="0" smtClean="0"/>
              <a:t>: Every student gets lessons based on their own speed and level.</a:t>
            </a:r>
          </a:p>
          <a:p>
            <a:r>
              <a:rPr lang="en-US" b="1" dirty="0" smtClean="0"/>
              <a:t>Instant feedback</a:t>
            </a:r>
            <a:r>
              <a:rPr lang="en-US" dirty="0" smtClean="0"/>
              <a:t>: Students know their mistakes right away instead of waiting for the teacher to check.</a:t>
            </a:r>
          </a:p>
          <a:p>
            <a:r>
              <a:rPr lang="en-US" b="1" dirty="0" smtClean="0"/>
              <a:t>Saves teacher's time</a:t>
            </a:r>
            <a:r>
              <a:rPr lang="en-US" dirty="0" smtClean="0"/>
              <a:t>: AI can grade tests and homework automatically.</a:t>
            </a:r>
          </a:p>
          <a:p>
            <a:r>
              <a:rPr lang="en-US" b="1" dirty="0" smtClean="0"/>
              <a:t>24/7 help</a:t>
            </a:r>
            <a:r>
              <a:rPr lang="en-US" dirty="0" smtClean="0"/>
              <a:t>: Students can ask doubts anytime, even at night, and get answers.</a:t>
            </a:r>
          </a:p>
          <a:p>
            <a:r>
              <a:rPr lang="en-US" b="1" dirty="0" smtClean="0"/>
              <a:t>Makes learning fun</a:t>
            </a:r>
            <a:r>
              <a:rPr lang="en-US" dirty="0" smtClean="0"/>
              <a:t>: Using games, quizzes, and interactive tools keeps students interested.</a:t>
            </a:r>
          </a:p>
          <a:p>
            <a:endParaRPr lang="en-IN" dirty="0"/>
          </a:p>
        </p:txBody>
      </p:sp>
    </p:spTree>
    <p:extLst>
      <p:ext uri="{BB962C8B-B14F-4D97-AF65-F5344CB8AC3E}">
        <p14:creationId xmlns:p14="http://schemas.microsoft.com/office/powerpoint/2010/main" val="28445537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 AI Tools Used in Education</a:t>
            </a:r>
            <a:r>
              <a:rPr lang="en-IN" dirty="0" smtClean="0"/>
              <a:t/>
            </a:r>
            <a:br>
              <a:rPr lang="en-IN" dirty="0" smtClean="0"/>
            </a:br>
            <a:endParaRPr lang="en-IN" dirty="0"/>
          </a:p>
        </p:txBody>
      </p:sp>
      <p:pic>
        <p:nvPicPr>
          <p:cNvPr id="5" name="Picture Placeholder 4"/>
          <p:cNvPicPr>
            <a:picLocks noGrp="1" noChangeAspect="1"/>
          </p:cNvPicPr>
          <p:nvPr>
            <p:ph type="pic" idx="1"/>
          </p:nvPr>
        </p:nvPicPr>
        <p:blipFill rotWithShape="1">
          <a:blip r:embed="rId2">
            <a:extLst>
              <a:ext uri="{28A0092B-C50C-407E-A947-70E740481C1C}">
                <a14:useLocalDpi xmlns:a14="http://schemas.microsoft.com/office/drawing/2010/main" val="0"/>
              </a:ext>
            </a:extLst>
          </a:blip>
          <a:srcRect t="4091" b="648"/>
          <a:stretch/>
        </p:blipFill>
        <p:spPr>
          <a:xfrm>
            <a:off x="5183188" y="819509"/>
            <a:ext cx="6068035" cy="5624423"/>
          </a:xfrm>
        </p:spPr>
      </p:pic>
      <p:sp>
        <p:nvSpPr>
          <p:cNvPr id="4" name="Text Placeholder 3"/>
          <p:cNvSpPr>
            <a:spLocks noGrp="1"/>
          </p:cNvSpPr>
          <p:nvPr>
            <p:ph type="body" sz="half" idx="2"/>
          </p:nvPr>
        </p:nvSpPr>
        <p:spPr/>
        <p:txBody>
          <a:bodyPr/>
          <a:lstStyle/>
          <a:p>
            <a:r>
              <a:rPr lang="en-IN" b="1" dirty="0" err="1" smtClean="0">
                <a:latin typeface="Bell MT" panose="02020503060305020303" pitchFamily="18" charset="0"/>
              </a:rPr>
              <a:t>ChatGPT</a:t>
            </a:r>
            <a:r>
              <a:rPr lang="en-IN" dirty="0" smtClean="0">
                <a:latin typeface="Bell MT" panose="02020503060305020303" pitchFamily="18" charset="0"/>
              </a:rPr>
              <a:t> – helps in writing, explaining topics, and answering questions.</a:t>
            </a:r>
          </a:p>
          <a:p>
            <a:r>
              <a:rPr lang="en-IN" b="1" dirty="0" err="1" smtClean="0">
                <a:latin typeface="Bell MT" panose="02020503060305020303" pitchFamily="18" charset="0"/>
              </a:rPr>
              <a:t>Khanmigo</a:t>
            </a:r>
            <a:r>
              <a:rPr lang="en-IN" dirty="0" smtClean="0">
                <a:latin typeface="Bell MT" panose="02020503060305020303" pitchFamily="18" charset="0"/>
              </a:rPr>
              <a:t> – an AI tutor from Khan Academy that helps with study.</a:t>
            </a:r>
          </a:p>
          <a:p>
            <a:r>
              <a:rPr lang="en-IN" b="1" dirty="0" err="1" smtClean="0">
                <a:latin typeface="Bell MT" panose="02020503060305020303" pitchFamily="18" charset="0"/>
              </a:rPr>
              <a:t>Grammarly</a:t>
            </a:r>
            <a:r>
              <a:rPr lang="en-IN" dirty="0" smtClean="0">
                <a:latin typeface="Bell MT" panose="02020503060305020303" pitchFamily="18" charset="0"/>
              </a:rPr>
              <a:t> – checks grammar and improves writing.</a:t>
            </a:r>
          </a:p>
          <a:p>
            <a:r>
              <a:rPr lang="en-IN" b="1" dirty="0" smtClean="0">
                <a:latin typeface="Bell MT" panose="02020503060305020303" pitchFamily="18" charset="0"/>
              </a:rPr>
              <a:t>Google Classroom AI</a:t>
            </a:r>
            <a:r>
              <a:rPr lang="en-IN" dirty="0" smtClean="0">
                <a:latin typeface="Bell MT" panose="02020503060305020303" pitchFamily="18" charset="0"/>
              </a:rPr>
              <a:t> – helps manage assignments and grading.</a:t>
            </a:r>
          </a:p>
          <a:p>
            <a:r>
              <a:rPr lang="en-IN" b="1" dirty="0" err="1" smtClean="0">
                <a:latin typeface="Bell MT" panose="02020503060305020303" pitchFamily="18" charset="0"/>
              </a:rPr>
              <a:t>Duolingo</a:t>
            </a:r>
            <a:r>
              <a:rPr lang="en-IN" dirty="0" smtClean="0">
                <a:latin typeface="Bell MT" panose="02020503060305020303" pitchFamily="18" charset="0"/>
              </a:rPr>
              <a:t> – uses AI to teach languages in a fun way.</a:t>
            </a:r>
          </a:p>
          <a:p>
            <a:endParaRPr lang="en-IN" dirty="0">
              <a:latin typeface="Bell MT" panose="02020503060305020303" pitchFamily="18" charset="0"/>
            </a:endParaRPr>
          </a:p>
        </p:txBody>
      </p:sp>
    </p:spTree>
    <p:extLst>
      <p:ext uri="{BB962C8B-B14F-4D97-AF65-F5344CB8AC3E}">
        <p14:creationId xmlns:p14="http://schemas.microsoft.com/office/powerpoint/2010/main" val="2654680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Uses of AI in Education</a:t>
            </a:r>
            <a:endParaRPr lang="en-IN" dirty="0"/>
          </a:p>
        </p:txBody>
      </p:sp>
      <p:pic>
        <p:nvPicPr>
          <p:cNvPr id="5" name="Picture Placeholder 4"/>
          <p:cNvPicPr>
            <a:picLocks noGrp="1" noChangeAspect="1"/>
          </p:cNvPicPr>
          <p:nvPr>
            <p:ph type="pic" idx="1"/>
          </p:nvPr>
        </p:nvPicPr>
        <p:blipFill>
          <a:blip r:embed="rId2">
            <a:extLst>
              <a:ext uri="{28A0092B-C50C-407E-A947-70E740481C1C}">
                <a14:useLocalDpi xmlns:a14="http://schemas.microsoft.com/office/drawing/2010/main" val="0"/>
              </a:ext>
            </a:extLst>
          </a:blip>
          <a:srcRect l="7785" r="7785"/>
          <a:stretch>
            <a:fillRect/>
          </a:stretch>
        </p:blipFill>
        <p:spPr/>
      </p:pic>
      <p:sp>
        <p:nvSpPr>
          <p:cNvPr id="4" name="Text Placeholder 3"/>
          <p:cNvSpPr>
            <a:spLocks noGrp="1"/>
          </p:cNvSpPr>
          <p:nvPr>
            <p:ph type="body" sz="half" idx="2"/>
          </p:nvPr>
        </p:nvSpPr>
        <p:spPr/>
        <p:txBody>
          <a:bodyPr/>
          <a:lstStyle/>
          <a:p>
            <a:r>
              <a:rPr lang="en-US" dirty="0" smtClean="0">
                <a:latin typeface="Bell MT" panose="02020503060305020303" pitchFamily="18" charset="0"/>
              </a:rPr>
              <a:t/>
            </a:r>
            <a:br>
              <a:rPr lang="en-US" dirty="0" smtClean="0">
                <a:latin typeface="Bell MT" panose="02020503060305020303" pitchFamily="18" charset="0"/>
              </a:rPr>
            </a:br>
            <a:r>
              <a:rPr lang="en-US" dirty="0" smtClean="0">
                <a:latin typeface="Bell MT" panose="02020503060305020303" pitchFamily="18" charset="0"/>
              </a:rPr>
              <a:t>AI is used for online tutoring, automatic grading, creating smart study plans, translating languages, detecting plagiarism, and even predicting which students might need extra help based on their performance.</a:t>
            </a:r>
            <a:endParaRPr lang="en-IN" dirty="0">
              <a:latin typeface="Bell MT" panose="02020503060305020303" pitchFamily="18" charset="0"/>
            </a:endParaRPr>
          </a:p>
        </p:txBody>
      </p:sp>
    </p:spTree>
    <p:extLst>
      <p:ext uri="{BB962C8B-B14F-4D97-AF65-F5344CB8AC3E}">
        <p14:creationId xmlns:p14="http://schemas.microsoft.com/office/powerpoint/2010/main" val="215262342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Challenges of AI in Education</a:t>
            </a:r>
            <a:r>
              <a:rPr lang="en-US" dirty="0" smtClean="0"/>
              <a:t/>
            </a:r>
            <a:br>
              <a:rPr lang="en-US" dirty="0" smtClean="0"/>
            </a:br>
            <a:endParaRPr lang="en-IN" dirty="0"/>
          </a:p>
        </p:txBody>
      </p:sp>
      <p:pic>
        <p:nvPicPr>
          <p:cNvPr id="6" name="Picture Placeholder 5"/>
          <p:cNvPicPr>
            <a:picLocks noGrp="1" noChangeAspect="1"/>
          </p:cNvPicPr>
          <p:nvPr>
            <p:ph type="pic" idx="1"/>
          </p:nvPr>
        </p:nvPicPr>
        <p:blipFill>
          <a:blip r:embed="rId2">
            <a:extLst>
              <a:ext uri="{28A0092B-C50C-407E-A947-70E740481C1C}">
                <a14:useLocalDpi xmlns:a14="http://schemas.microsoft.com/office/drawing/2010/main" val="0"/>
              </a:ext>
            </a:extLst>
          </a:blip>
          <a:srcRect l="9312" r="9312"/>
          <a:stretch>
            <a:fillRect/>
          </a:stretch>
        </p:blipFill>
        <p:spPr/>
      </p:pic>
      <p:sp>
        <p:nvSpPr>
          <p:cNvPr id="4" name="Text Placeholder 3"/>
          <p:cNvSpPr>
            <a:spLocks noGrp="1"/>
          </p:cNvSpPr>
          <p:nvPr>
            <p:ph type="body" sz="half" idx="2"/>
          </p:nvPr>
        </p:nvSpPr>
        <p:spPr/>
        <p:txBody>
          <a:bodyPr/>
          <a:lstStyle/>
          <a:p>
            <a:r>
              <a:rPr lang="en-US" b="1" dirty="0" smtClean="0">
                <a:latin typeface="Bell MT" panose="02020503060305020303" pitchFamily="18" charset="0"/>
              </a:rPr>
              <a:t>High cost</a:t>
            </a:r>
            <a:r>
              <a:rPr lang="en-US" dirty="0" smtClean="0">
                <a:latin typeface="Bell MT" panose="02020503060305020303" pitchFamily="18" charset="0"/>
              </a:rPr>
              <a:t>: Not every school can afford AI tools.</a:t>
            </a:r>
          </a:p>
          <a:p>
            <a:r>
              <a:rPr lang="en-US" b="1" dirty="0" smtClean="0">
                <a:latin typeface="Bell MT" panose="02020503060305020303" pitchFamily="18" charset="0"/>
              </a:rPr>
              <a:t>Less human touch</a:t>
            </a:r>
            <a:r>
              <a:rPr lang="en-US" dirty="0" smtClean="0">
                <a:latin typeface="Bell MT" panose="02020503060305020303" pitchFamily="18" charset="0"/>
              </a:rPr>
              <a:t>: Too much AI can reduce personal connection between teacher and student.</a:t>
            </a:r>
          </a:p>
          <a:p>
            <a:r>
              <a:rPr lang="en-US" b="1" dirty="0" smtClean="0">
                <a:latin typeface="Bell MT" panose="02020503060305020303" pitchFamily="18" charset="0"/>
              </a:rPr>
              <a:t>Privacy issues</a:t>
            </a:r>
            <a:r>
              <a:rPr lang="en-US" dirty="0" smtClean="0">
                <a:latin typeface="Bell MT" panose="02020503060305020303" pitchFamily="18" charset="0"/>
              </a:rPr>
              <a:t>: Student data safety is a big concern.</a:t>
            </a:r>
          </a:p>
          <a:p>
            <a:r>
              <a:rPr lang="en-US" b="1" dirty="0" smtClean="0">
                <a:latin typeface="Bell MT" panose="02020503060305020303" pitchFamily="18" charset="0"/>
              </a:rPr>
              <a:t>Over-dependency</a:t>
            </a:r>
            <a:r>
              <a:rPr lang="en-US" dirty="0" smtClean="0">
                <a:latin typeface="Bell MT" panose="02020503060305020303" pitchFamily="18" charset="0"/>
              </a:rPr>
              <a:t>: Students might rely too much on AI instead of learning themselves.</a:t>
            </a:r>
          </a:p>
          <a:p>
            <a:r>
              <a:rPr lang="en-US" b="1" dirty="0" smtClean="0">
                <a:latin typeface="Bell MT" panose="02020503060305020303" pitchFamily="18" charset="0"/>
              </a:rPr>
              <a:t>Technical problems</a:t>
            </a:r>
            <a:r>
              <a:rPr lang="en-US" dirty="0" smtClean="0">
                <a:latin typeface="Bell MT" panose="02020503060305020303" pitchFamily="18" charset="0"/>
              </a:rPr>
              <a:t>: Not every area has good internet or devices for AI tools.</a:t>
            </a:r>
          </a:p>
          <a:p>
            <a:endParaRPr lang="en-IN" dirty="0">
              <a:latin typeface="Bell MT" panose="02020503060305020303" pitchFamily="18" charset="0"/>
            </a:endParaRPr>
          </a:p>
        </p:txBody>
      </p:sp>
    </p:spTree>
    <p:extLst>
      <p:ext uri="{BB962C8B-B14F-4D97-AF65-F5344CB8AC3E}">
        <p14:creationId xmlns:p14="http://schemas.microsoft.com/office/powerpoint/2010/main" val="97215604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5502" y="773607"/>
            <a:ext cx="8465928" cy="5504087"/>
          </a:xfrm>
          <a:prstGeom prst="rect">
            <a:avLst/>
          </a:prstGeom>
        </p:spPr>
      </p:pic>
    </p:spTree>
    <p:extLst>
      <p:ext uri="{BB962C8B-B14F-4D97-AF65-F5344CB8AC3E}">
        <p14:creationId xmlns:p14="http://schemas.microsoft.com/office/powerpoint/2010/main" val="40499545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TotalTime>
  <Words>237</Words>
  <Application>Microsoft Office PowerPoint</Application>
  <PresentationFormat>Widescreen</PresentationFormat>
  <Paragraphs>26</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Adobe Gothic Std B</vt:lpstr>
      <vt:lpstr>Arial</vt:lpstr>
      <vt:lpstr>Bell MT</vt:lpstr>
      <vt:lpstr>Calibri</vt:lpstr>
      <vt:lpstr>Calibri Light</vt:lpstr>
      <vt:lpstr>Office Theme</vt:lpstr>
      <vt:lpstr>PowerPoint Presentation</vt:lpstr>
      <vt:lpstr>Introduction to AI</vt:lpstr>
      <vt:lpstr> What is AI in Education</vt:lpstr>
      <vt:lpstr> Benefits of AI in Education </vt:lpstr>
      <vt:lpstr> AI Tools Used in Education </vt:lpstr>
      <vt:lpstr>Uses of AI in Education</vt:lpstr>
      <vt:lpstr> Challenges of AI in Education </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Windows User</cp:lastModifiedBy>
  <cp:revision>6</cp:revision>
  <dcterms:created xsi:type="dcterms:W3CDTF">2026-07-09T13:43:28Z</dcterms:created>
  <dcterms:modified xsi:type="dcterms:W3CDTF">2026-07-09T15:17:31Z</dcterms:modified>
</cp:coreProperties>
</file>